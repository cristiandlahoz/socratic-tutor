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CMM_MASTER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053328"/>
            <a:ext cx="9144000" cy="804672"/>
          </a:xfrm>
          <a:prstGeom prst="rect">
            <a:avLst/>
          </a:prstGeom>
          <a:solidFill>
            <a:srgbClr val="0E0E0E"/>
          </a:solidFill>
          <a:ln w="12700">
            <a:solidFill>
              <a:srgbClr val="0E0E0E">
                <a:alpha val="0"/>
              </a:srgbClr>
            </a:solidFill>
            <a:prstDash val="solid"/>
          </a:ln>
        </p:spPr>
      </p:sp>
      <p:pic>
        <p:nvPicPr>
          <p:cNvPr id="4" name="Image 0" descr="/Users/cigdelahoz/ghq/github.com/cristiandlahoz/this_studio/assets/ppt/pucmm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144768"/>
            <a:ext cx="1499616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01952" y="6336792"/>
            <a:ext cx="530352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7F7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Escuela de Ingenieria en Computacion y Telecomunicaciones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58368"/>
            <a:ext cx="1371600" cy="237744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704088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 DE TESIS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 Crow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51790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 socratico inteligente para Introduccion a la Algoritmia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215798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academica basada en LLM, RAG y guardrails pedagogicos para guiar al estudiante, preservar la voz docente y registrar evidencia reutilizable para seguimiento y evaluacion.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58368" y="3767328"/>
            <a:ext cx="2267712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31920"/>
            <a:ext cx="1938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2428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Cristian Ignacio de la Hoz Reyes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Manuel Jose Rodriguez Cruz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72384" y="3767328"/>
            <a:ext cx="1627632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6976" y="39319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36976" y="4242816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ICC-101-T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PUCMM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Marzo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84064" y="1152144"/>
            <a:ext cx="2852928" cy="4169664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1444752"/>
            <a:ext cx="23408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conceptual del sistema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053328" y="2139696"/>
            <a:ext cx="1024128" cy="1024128"/>
          </a:xfrm>
          <a:prstGeom prst="ellipse">
            <a:avLst/>
          </a:prstGeom>
          <a:solidFill>
            <a:srgbClr val="DCE7F7"/>
          </a:solidFill>
          <a:ln w="12700">
            <a:solidFill>
              <a:srgbClr val="1F497D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2468880"/>
            <a:ext cx="585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68112" y="1847088"/>
            <a:ext cx="749808" cy="310896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93852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7187184" y="2542032"/>
            <a:ext cx="768096" cy="310896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63347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5321808" y="3657600"/>
            <a:ext cx="1024128" cy="310896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58384" y="3749040"/>
            <a:ext cx="9509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6858000" y="4114800"/>
            <a:ext cx="1042416" cy="310896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4576" y="4206240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888736" y="2139696"/>
            <a:ext cx="256032" cy="164592"/>
          </a:xfrm>
          <a:prstGeom prst="line">
            <a:avLst/>
          </a:prstGeom>
          <a:noFill/>
          <a:ln w="12700">
            <a:solidFill>
              <a:srgbClr val="53667F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04304" y="2798064"/>
            <a:ext cx="274320" cy="36576"/>
          </a:xfrm>
          <a:prstGeom prst="line">
            <a:avLst/>
          </a:prstGeom>
          <a:noFill/>
          <a:ln w="12700">
            <a:solidFill>
              <a:srgbClr val="53667F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2160" y="3163824"/>
            <a:ext cx="256032" cy="512064"/>
          </a:xfrm>
          <a:prstGeom prst="line">
            <a:avLst/>
          </a:prstGeom>
          <a:noFill/>
          <a:ln w="12700">
            <a:solidFill>
              <a:srgbClr val="53667F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76288" y="3072384"/>
            <a:ext cx="310896" cy="877824"/>
          </a:xfrm>
          <a:prstGeom prst="line">
            <a:avLst/>
          </a:prstGeom>
          <a:noFill/>
          <a:ln w="12700">
            <a:solidFill>
              <a:srgbClr val="53667F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1536" y="470001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Tutoria socratica, recuperacion contextual y evidencia de sesion en una sola plataforma.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narrativa breve, tecnica y facil de defender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presentacion se organiza para abrir con el problema, probar la propuesta y cerrar con evidencia concreta.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93852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1865376"/>
            <a:ext cx="621792" cy="347472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9293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 y oportunidad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86384" y="24140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58368" y="2340864"/>
            <a:ext cx="62179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240487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la tesis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786384" y="288950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58368" y="2816352"/>
            <a:ext cx="62179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28803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Tutor Crow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786384" y="336499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" y="3291840"/>
            <a:ext cx="62179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33558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y guardrails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786384" y="384048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" y="3767328"/>
            <a:ext cx="62179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81328" y="383133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Corpus, RAG y trazabilidad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786384" y="43159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58368" y="4242816"/>
            <a:ext cx="62179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328" y="43068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Showcase e implementacion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786384" y="47914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58368" y="4718304"/>
            <a:ext cx="62179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81328" y="478231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y cierre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5047488" y="1938528"/>
            <a:ext cx="2999232" cy="1426464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210312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Hilo conductor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12080" y="2414016"/>
            <a:ext cx="26700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narrativa va de problema a propuesta, luego a arquitectura, evidencia y cierre. Cada bloque responde una pregunta natural del jurado.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47488" y="3584448"/>
            <a:ext cx="2999232" cy="1280160"/>
          </a:xfrm>
          <a:prstGeom prst="roundRect">
            <a:avLst>
              <a:gd name="adj" fmla="val 8571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74904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 visual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12080" y="4059936"/>
            <a:ext cx="26700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Titulos cortos, una sola figura principal por slide y apoyo textual compacto. La organizacion privilegia lectura rapida y defensa oral.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230368" y="5084064"/>
            <a:ext cx="786384" cy="237744"/>
          </a:xfrm>
          <a:prstGeom prst="roundRect">
            <a:avLst/>
          </a:prstGeom>
          <a:solidFill>
            <a:srgbClr val="DCE7F7"/>
          </a:solidFill>
          <a:ln w="12700">
            <a:solidFill>
              <a:srgbClr val="DCE7F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0" y="5129784"/>
            <a:ext cx="640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08192" y="5084064"/>
            <a:ext cx="969264" cy="237744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512978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68896" y="5084064"/>
            <a:ext cx="841248" cy="237744"/>
          </a:xfrm>
          <a:prstGeom prst="roundRect">
            <a:avLst/>
          </a:prstGeom>
          <a:solidFill>
            <a:srgbClr val="DCE7F7"/>
          </a:solidFill>
          <a:ln w="12700">
            <a:solidFill>
              <a:srgbClr val="DCE7F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5129784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reto no es solo tutorizar mejor, sino volver visible cada sesion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tutorias informales ayudan en el momento, pero dejan poca evidencia reutilizable para seguimiento, evaluacion y mejora continua.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56816"/>
            <a:ext cx="4096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trazabilidad, la ayuda academica termina cuando termina la conversacion.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743200"/>
            <a:ext cx="40050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estudiante recibe orientacion, pero el docente no siempre conserva el proceso que produjo la respuesta.</a:t>
            </a:r>
            <a:endParaRPr lang="en-US" sz="1040" dirty="0"/>
          </a:p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registro estructurado es dificil detectar patrones, dudas recurrentes o errores persistentes.</a:t>
            </a:r>
            <a:endParaRPr lang="en-US" sz="1040" dirty="0"/>
          </a:p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ausencia de evidencia limita la evaluacion del impacto pedagogico del sistema.</a:t>
            </a:r>
            <a:endParaRPr lang="en-US" sz="1040" dirty="0"/>
          </a:p>
        </p:txBody>
      </p:sp>
      <p:sp>
        <p:nvSpPr>
          <p:cNvPr id="8" name="Shape 6"/>
          <p:cNvSpPr/>
          <p:nvPr/>
        </p:nvSpPr>
        <p:spPr>
          <a:xfrm>
            <a:off x="5138928" y="1993392"/>
            <a:ext cx="290779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215798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Fragmentacion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246888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Dialogos utiles, pero dispersos y no comparables.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38928" y="3145536"/>
            <a:ext cx="2907792" cy="950976"/>
          </a:xfrm>
          <a:prstGeom prst="roundRect">
            <a:avLst>
              <a:gd name="adj" fmla="val 11538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33101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Seguimiento debil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621024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progreso entre sesiones no queda anclado a eventos verificables.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38928" y="4297680"/>
            <a:ext cx="290779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0" y="446227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Poca evidencia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47731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datos ordenados, la mejora del tutor se vuelve reactiva y manual.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57424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oportunidad de tesis aparece al combinar ayuda pedagogica con evidencia estructurada de interaccion.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tesis propone una plataforma que ensena, protege y deja huella analizable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formulacion combina una meta general clara con objetivos especificos que pueden defenderse como decisiones de arquitectura.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01952"/>
            <a:ext cx="7754112" cy="1005840"/>
          </a:xfrm>
          <a:prstGeom prst="roundRect">
            <a:avLst>
              <a:gd name="adj" fmla="val 10909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66544"/>
            <a:ext cx="7424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7424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Disenar e implementar Tutor Crow, una plataforma de tutoria socratica basada en LLM que apoye la ensenanza de Introduccion a la Algoritmia y capture evidencia estructurada de las interacciones para monitoreo, analitica y mejora continua.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3200400"/>
            <a:ext cx="36576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3346704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 una experiencia conversacional capaz de guiar al estudiante paso a paso sin entregar respuestas finales.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626864" y="3200400"/>
            <a:ext cx="3657600" cy="877824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33375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66944" y="3346704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un subsistema RAG que reutilice corpus pedagogico real y ejemplos sinteticos de alta calidad.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58368" y="4315968"/>
            <a:ext cx="365760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4531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98448" y="4462272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Aplicar guardrails de seguridad y alcance para conservar el rol socratico del tutor.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4626864" y="4315968"/>
            <a:ext cx="3657600" cy="877824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91456" y="4453128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66944" y="4462272"/>
            <a:ext cx="2816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eventos e indicadores que permitan trazabilidad, auditoria y evaluacion posterior.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 Crow unifica interaccion academica, recuperacion contextual y observabilidad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 no se limita a responder: organiza una experiencia completa de tutor, conocimiento y evidencia.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3852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integra tres capacidades que normalmente aparecen separadas en herramientas distintas: acompanamiento socratico, acceso contextual al conocimiento y trazabilidad de la sesion.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2724912"/>
            <a:ext cx="35295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Guia al estudiante con preguntas y retroalimentacion graduada.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 contexto desde corpus pedagogico real y sintetico.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Convierte cada intercambio en una fuente de evidencia reutilizable.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998464" y="2779776"/>
            <a:ext cx="1078992" cy="1078992"/>
          </a:xfrm>
          <a:prstGeom prst="ellipse">
            <a:avLst/>
          </a:prstGeom>
          <a:solidFill>
            <a:srgbClr val="DCE7F7"/>
          </a:solidFill>
          <a:ln w="12700">
            <a:solidFill>
              <a:srgbClr val="1F497D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36208" y="31272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129844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2020824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conversacional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894576" y="1920240"/>
            <a:ext cx="1078992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020824"/>
            <a:ext cx="969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academico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773168" y="4352544"/>
            <a:ext cx="109728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4453128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784848" y="4352544"/>
            <a:ext cx="1207008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39712" y="445312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596128" y="2231136"/>
            <a:ext cx="420624" cy="658368"/>
          </a:xfrm>
          <a:prstGeom prst="line">
            <a:avLst/>
          </a:prstGeom>
          <a:noFill/>
          <a:ln w="12700">
            <a:solidFill>
              <a:srgbClr val="53667F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95744" y="2249424"/>
            <a:ext cx="347472" cy="658368"/>
          </a:xfrm>
          <a:prstGeom prst="line">
            <a:avLst/>
          </a:prstGeom>
          <a:noFill/>
          <a:ln w="12700">
            <a:solidFill>
              <a:srgbClr val="53667F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32704" y="3785616"/>
            <a:ext cx="402336" cy="676656"/>
          </a:xfrm>
          <a:prstGeom prst="line">
            <a:avLst/>
          </a:prstGeom>
          <a:noFill/>
          <a:ln w="12700">
            <a:solidFill>
              <a:srgbClr val="53667F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77456" y="3785616"/>
            <a:ext cx="329184" cy="676656"/>
          </a:xfrm>
          <a:prstGeom prst="line">
            <a:avLst/>
          </a:prstGeom>
          <a:noFill/>
          <a:ln w="12700">
            <a:solidFill>
              <a:srgbClr val="53667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57424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propuesta se resume mejor como un nucleo unico con cuatro capacidades satelite claramente diferenciadas.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arquitectura separa experiencia, inteligencia, control y conocimiento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separacion facilita evolucionar el sistema sin mezclar interfaz, tutor, recuperacion y politicas de seguridad.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75104"/>
            <a:ext cx="7552944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57400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de experiencia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2761488" y="205740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conversacional en Vaadin 25, estados de sesion y navegacion.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786384" y="2633472"/>
            <a:ext cx="7552944" cy="493776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715768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de orquestacion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2761488" y="27157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 4 y Spring AI coordinan prompts, streaming y memoria conversacional.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786384" y="3291840"/>
            <a:ext cx="7552944" cy="493776"/>
          </a:xfrm>
          <a:prstGeom prst="roundRect">
            <a:avLst/>
          </a:prstGeom>
          <a:solidFill>
            <a:srgbClr val="DCE7F7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374136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de tutor y guardrails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761488" y="33741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TutorGuardAdvisor refuerza el modo socratico, maneja atajos, inyeccion y alcance.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86384" y="3950208"/>
            <a:ext cx="7552944" cy="493776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4032504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de conocimiento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2761488" y="403250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curado, chunking, vectorizacion y recuperacion con ChromaDB.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786384" y="4608576"/>
            <a:ext cx="7552944" cy="4937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4690872"/>
            <a:ext cx="2139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 de evidencia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2761488" y="4690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Eventos, logs y resultados de sesion alimentan monitoreo y analitica posterior.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932688" y="5513832"/>
            <a:ext cx="658368" cy="237744"/>
          </a:xfrm>
          <a:prstGeom prst="roundRect">
            <a:avLst/>
          </a:prstGeom>
          <a:solidFill>
            <a:srgbClr val="DCE7F7"/>
          </a:solidFill>
          <a:ln w="12700">
            <a:solidFill>
              <a:srgbClr val="DCE7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559552"/>
            <a:ext cx="5120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Vaadin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82496" y="5513832"/>
            <a:ext cx="1024128" cy="237744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55648" y="5559552"/>
            <a:ext cx="8778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 4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816352" y="5513832"/>
            <a:ext cx="804672" cy="237744"/>
          </a:xfrm>
          <a:prstGeom prst="roundRect">
            <a:avLst/>
          </a:prstGeom>
          <a:solidFill>
            <a:srgbClr val="DCE7F7"/>
          </a:solidFill>
          <a:ln w="12700">
            <a:solidFill>
              <a:srgbClr val="DCE7F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9504" y="555955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AI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30752" y="5513832"/>
            <a:ext cx="713232" cy="237744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5559552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Ollama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53712" y="5513832"/>
            <a:ext cx="841248" cy="237744"/>
          </a:xfrm>
          <a:prstGeom prst="roundRect">
            <a:avLst/>
          </a:prstGeom>
          <a:solidFill>
            <a:srgbClr val="DCE7F7"/>
          </a:solidFill>
          <a:ln w="12700">
            <a:solidFill>
              <a:srgbClr val="DCE7F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5559552"/>
            <a:ext cx="6949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ChromaDB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valor pedagogico depende de conservar el rol del tutor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tesis introduce una capa explicita de seguridad y alcance para evitar respuestas directas y mantener el estilo socratico.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38528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Modo socratico reforzado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14016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prioriza preguntas guiadas, explicaciones conceptuales, comprobaciones parciales y ejemplos del mundo real antes de mostrar codigo.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3346704"/>
            <a:ext cx="3566160" cy="1316736"/>
          </a:xfrm>
          <a:prstGeom prst="roundRect">
            <a:avLst>
              <a:gd name="adj" fmla="val 8333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11296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Politicas activas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22192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detectan solicitudes de atajos, prompt injection, suplantacion de autoridad y temas fuera de alcance para redirigir la respuesta sin romper la ayuda.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90288" y="2011680"/>
            <a:ext cx="1517904" cy="1042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21579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2E7D3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4700016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normal del estudiante.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6327648" y="2011680"/>
            <a:ext cx="1517904" cy="1042416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21579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B33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NOT_SAFE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437376" y="2487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de respuesta final o codigo sin explicacion.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4590288" y="3346704"/>
            <a:ext cx="1517904" cy="10424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3493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IMPERSONATION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700016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intenta cambiar reglas alegando autoridad.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327648" y="3346704"/>
            <a:ext cx="1517904" cy="1042416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5366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37376" y="34930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53667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OUT_OF_SCOPE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437376" y="38221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consulta sale del dominio de algoritmia en C.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621792" y="57424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guard classifier trabaja con decisiones SAFE, NOT_SAFE, IMPERSONATION y OUT_OF_SCOPE definidas en el backend.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Y RAG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conocimiento del tutor nace de material real y se expande con sinteticos curados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de conocimiento no es generica: se construye sobre dialogos socraticos de la asignatura y un pipeline de recuperacion semantica.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38528"/>
            <a:ext cx="182880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  <a:effectLst>
            <a:outerShdw sx="100000" sy="100000" kx="0" ky="0" algn="bl" rotWithShape="0" blurRad="12700" dist="50800" dir="5400000">
              <a:srgbClr val="A39685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07568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Conversaciones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270662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reales + 85 sinteticas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938528"/>
            <a:ext cx="182880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  <a:effectLst>
            <a:outerShdw sx="100000" sy="100000" kx="0" ky="0" algn="bl" rotWithShape="0" blurRad="12700" dist="50800" dir="5400000">
              <a:srgbClr val="A3968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16352" y="207568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1,824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16352" y="24688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16352" y="270662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de entrenamiento preservando voz docente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45152" y="1938528"/>
            <a:ext cx="182880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  <a:effectLst>
            <a:outerShdw sx="100000" sy="100000" kx="0" ky="0" algn="bl" rotWithShape="0" blurRad="12700" dist="50800" dir="5400000">
              <a:srgbClr val="A3968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207568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2,725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09744" y="246888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9744" y="270662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segmentado desde 4 fuentes heterogeneas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38544" y="1938528"/>
            <a:ext cx="1773936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  <a:effectLst>
            <a:outerShdw sx="100000" sy="100000" kx="0" ky="0" algn="bl" rotWithShape="0" blurRad="12700" dist="50800" dir="5400000">
              <a:srgbClr val="A39685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2075688"/>
            <a:ext cx="1444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2,603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803136" y="2468880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03136" y="270662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Recuperacion validada en ChromaDB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" y="3438144"/>
            <a:ext cx="1700784" cy="1188720"/>
          </a:xfrm>
          <a:prstGeom prst="roundRect">
            <a:avLst>
              <a:gd name="adj" fmla="val 9231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027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reales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91363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Dialogos socraticos del profesor y material curricular.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14016" y="3877056"/>
            <a:ext cx="164592" cy="329184"/>
          </a:xfrm>
          <a:prstGeom prst="chevron">
            <a:avLst/>
          </a:prstGeom>
          <a:solidFill>
            <a:srgbClr val="FFC000">
              <a:alpha val="82000"/>
            </a:srgbClr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88336" y="3438144"/>
            <a:ext cx="170078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52928" y="36027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Sintesis guiada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52928" y="391363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Conversaciones sinteticas manteniendo metodologia y tono.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43984" y="3877056"/>
            <a:ext cx="164592" cy="329184"/>
          </a:xfrm>
          <a:prstGeom prst="chevron">
            <a:avLst/>
          </a:prstGeom>
          <a:solidFill>
            <a:srgbClr val="FFC000">
              <a:alpha val="82000"/>
            </a:srgbClr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18304" y="3438144"/>
            <a:ext cx="1700784" cy="1188720"/>
          </a:xfrm>
          <a:prstGeom prst="roundRect">
            <a:avLst>
              <a:gd name="adj" fmla="val 9231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82896" y="36027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Chunking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82896" y="391363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Segmentacion del corpus para recuperacion granular.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73952" y="3877056"/>
            <a:ext cx="164592" cy="329184"/>
          </a:xfrm>
          <a:prstGeom prst="chevron">
            <a:avLst/>
          </a:prstGeom>
          <a:solidFill>
            <a:srgbClr val="FFC000">
              <a:alpha val="82000"/>
            </a:srgbClr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48272" y="3438144"/>
            <a:ext cx="1700784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12864" y="36027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Vectorizacion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12864" y="3913632"/>
            <a:ext cx="1371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 e ingesta en ChromaDB.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" y="50292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Similitud coseno validada entre 0.74 y 0.85 en recuperacion semantica.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SHOWCASE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interfaz conversacional combina tono academico, foco visual y baja friccion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lugar de una pantalla saturada, la experiencia prioriza el intercambio, el contexto y el impulso a hacer la primera pregunta.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01952"/>
            <a:ext cx="5358384" cy="3584448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157984"/>
            <a:ext cx="1152144" cy="2999232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957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Asistente academico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97280" y="2743200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877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Guia paso a paso, aclara conceptos y practica con ejemplos.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2523744" y="235915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Haz tu primera pregunta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23744" y="26700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estudiante entra en una pantalla sobria donde el tutor invita a razonar antes de escribir codigo.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542032" y="3401568"/>
            <a:ext cx="2432304" cy="475488"/>
          </a:xfrm>
          <a:prstGeom prst="roundRect">
            <a:avLst/>
          </a:prstGeom>
          <a:solidFill>
            <a:srgbClr val="DCE7F7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493008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Profe, como planteo un while para sumar N ventas?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218688" y="4005072"/>
            <a:ext cx="1828800" cy="566928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4096512"/>
            <a:ext cx="1609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escribir codigo, pensemos el problema como un cajero.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2542032" y="4754880"/>
            <a:ext cx="2633472" cy="292608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4846320"/>
            <a:ext cx="2414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Escribe tu mensaje aqui...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4828032" y="4791456"/>
            <a:ext cx="201168" cy="201168"/>
          </a:xfrm>
          <a:prstGeom prst="ellipse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993392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215798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Inicio guiado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65392" y="246888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empty state baja la ansiedad y orienta la primera accion.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999232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5392" y="316382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Streaming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65392" y="3474720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aparece de forma progresiva y mantiene continuidad conversacional.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4005072"/>
            <a:ext cx="19202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416966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Tono academico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65392" y="448056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interfaz comunica apoyo, no automatizacion fria ni solucionario.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intercambio puede convertirse en una unidad de evidencia revisable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tesis gana profundidad cuando la interaccion se traduce en eventos que luego pueden analizarse pedagogica y tecnicamente.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975104"/>
            <a:ext cx="3877056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22311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timeline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1225296" y="2560320"/>
            <a:ext cx="0" cy="384048"/>
          </a:xfrm>
          <a:prstGeom prst="line">
            <a:avLst/>
          </a:prstGeom>
          <a:noFill/>
          <a:ln w="12700">
            <a:solidFill>
              <a:srgbClr val="D7D1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" y="2670048"/>
            <a:ext cx="146304" cy="146304"/>
          </a:xfrm>
          <a:prstGeom prst="ellipse">
            <a:avLst/>
          </a:prstGeom>
          <a:solidFill>
            <a:srgbClr val="DCE7F7"/>
          </a:solidFill>
          <a:ln w="12700">
            <a:solidFill>
              <a:srgbClr val="DCE7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2633472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09:12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975104" y="259689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student.prompt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75104" y="2761488"/>
            <a:ext cx="2121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sobre acumuladores con while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225296" y="3054096"/>
            <a:ext cx="0" cy="384048"/>
          </a:xfrm>
          <a:prstGeom prst="line">
            <a:avLst/>
          </a:prstGeom>
          <a:noFill/>
          <a:ln w="1270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2144" y="3163824"/>
            <a:ext cx="146304" cy="146304"/>
          </a:xfrm>
          <a:prstGeom prst="ellipse">
            <a:avLst/>
          </a:prstGeom>
          <a:solidFill>
            <a:srgbClr val="D8F0DB"/>
          </a:solidFill>
          <a:ln w="12700">
            <a:solidFill>
              <a:srgbClr val="D8F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6464" y="312724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09:12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975104" y="309067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guard.safe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975104" y="3255264"/>
            <a:ext cx="2121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dentro de alcance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1225296" y="3547872"/>
            <a:ext cx="0" cy="384048"/>
          </a:xfrm>
          <a:prstGeom prst="line">
            <a:avLst/>
          </a:prstGeom>
          <a:noFill/>
          <a:ln w="1270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2144" y="3657600"/>
            <a:ext cx="146304" cy="146304"/>
          </a:xfrm>
          <a:prstGeom prst="ellipse">
            <a:avLst/>
          </a:prstGeom>
          <a:solidFill>
            <a:srgbClr val="F2E1A7"/>
          </a:solidFill>
          <a:ln w="12700">
            <a:solidFill>
              <a:srgbClr val="F2E1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26464" y="3621024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09:13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975104" y="358444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rag.retrieve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75104" y="3749040"/>
            <a:ext cx="2121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recuperan fragmentos relevantes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225296" y="4041648"/>
            <a:ext cx="0" cy="384048"/>
          </a:xfrm>
          <a:prstGeom prst="line">
            <a:avLst/>
          </a:prstGeom>
          <a:noFill/>
          <a:ln w="1270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2144" y="4151376"/>
            <a:ext cx="146304" cy="146304"/>
          </a:xfrm>
          <a:prstGeom prst="ellipse">
            <a:avLst/>
          </a:prstGeom>
          <a:solidFill>
            <a:srgbClr val="D6E4FA"/>
          </a:solidFill>
          <a:ln w="12700">
            <a:solidFill>
              <a:srgbClr val="D6E4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26464" y="4114800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09:13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975104" y="407822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assistant.stream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75104" y="4242816"/>
            <a:ext cx="2121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 socratica en curso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1225296" y="4535424"/>
            <a:ext cx="0" cy="384048"/>
          </a:xfrm>
          <a:prstGeom prst="line">
            <a:avLst/>
          </a:prstGeom>
          <a:noFill/>
          <a:ln w="1270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52144" y="4645152"/>
            <a:ext cx="146304" cy="146304"/>
          </a:xfrm>
          <a:prstGeom prst="ellipse">
            <a:avLst/>
          </a:prstGeom>
          <a:solidFill>
            <a:srgbClr val="F5D7D7"/>
          </a:solidFill>
          <a:ln w="12700">
            <a:solidFill>
              <a:srgbClr val="F5D7D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26464" y="4608576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09:14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975104" y="45720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session.outcome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75104" y="4736592"/>
            <a:ext cx="2121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registra contexto y continuidad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992624" y="2011680"/>
            <a:ext cx="3127248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217627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Seguimiento entre sesiones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157216" y="248716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docente puede observar continuidad, bloqueos recurrentes y progreso conceptual.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92624" y="3108960"/>
            <a:ext cx="3127248" cy="877824"/>
          </a:xfrm>
          <a:prstGeom prst="roundRect">
            <a:avLst>
              <a:gd name="adj" fmla="val 12500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57216" y="327355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Auditoria pedagogica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57216" y="358444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guardrails dejan evidencia de como se sostuvo el rol socratico frente a solicitudes riesgosas.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92624" y="4206240"/>
            <a:ext cx="3127248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57216" y="4370832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Analitica posterior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57216" y="468172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logs permiten correlacionar tipo de duda, contexto recuperado y calidad de la respuesta.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" y="57424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central para la defensa: cada sesion se convierte en evidencia de aprendizaje y de comportamiento del sistema.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stack prioriza velocidad de iteracion, control local y extensibilidad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seleccion tecnologica refuerza la tesis: una interfaz robusta, un backend orquestador y un pipeline local de IA recuperable.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84832"/>
            <a:ext cx="142646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32257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749808" y="270662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Vaadin 25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8096" y="3383280"/>
            <a:ext cx="1207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conversacional, composicion del chat y experiencia de usuario.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249424" y="2084832"/>
            <a:ext cx="1426464" cy="2816352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232257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340864" y="270662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 Boot 4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359152" y="3383280"/>
            <a:ext cx="1207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Orquestacion, servicios y configuracion de la aplicacion.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840480" y="2084832"/>
            <a:ext cx="142646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0208" y="232257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3931920" y="270662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Spring AI + Ollama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950208" y="3383280"/>
            <a:ext cx="1207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Streaming, prompting y control del modelo local.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431536" y="2084832"/>
            <a:ext cx="1426464" cy="2816352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232257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CONOCIMIENTO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522976" y="270662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ChromaDB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541264" y="3383280"/>
            <a:ext cx="1207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store para recuperar contexto pedagogico.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022592" y="2084832"/>
            <a:ext cx="1426464" cy="2816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232257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GOBERNANZA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114032" y="2706624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TutorGuardAdvisor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32320" y="3383280"/>
            <a:ext cx="120700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Refuerzo del modo socratico y manejo de politicas.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621792" y="5742432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implementacion muestra coherencia entre interfaz, politicas de tutor y recuperacion del conocimiento.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proyecto ya demuestra una base funcional y medible para seguir evaluando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resultados reportados combinan volumen de corpus, validacion de recuperacion y progreso de implementacion.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20240"/>
            <a:ext cx="3950208" cy="2816352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3621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Activos del proyecto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23957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Conversaciones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993392" y="2414016"/>
            <a:ext cx="1627632" cy="109728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2414016"/>
            <a:ext cx="52562" cy="109728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0752" y="237744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69264" y="288950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Turnos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993392" y="2907792"/>
            <a:ext cx="1627632" cy="109728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93392" y="2907792"/>
            <a:ext cx="1089468" cy="109728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2871216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1824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969264" y="33832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Fragmentos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993392" y="3401568"/>
            <a:ext cx="1627632" cy="109728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3401568"/>
            <a:ext cx="1627632" cy="109728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3364992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2725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69264" y="387705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Vectores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1993392" y="3895344"/>
            <a:ext cx="1627632" cy="109728"/>
          </a:xfrm>
          <a:prstGeom prst="roundRect">
            <a:avLst/>
          </a:prstGeom>
          <a:solidFill>
            <a:srgbClr val="FCFBF8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93392" y="3895344"/>
            <a:ext cx="1554762" cy="109728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858768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2603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974336" y="1975104"/>
            <a:ext cx="149961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  <a:effectLst>
            <a:outerShdw sx="100000" sy="100000" kx="0" ky="0" algn="bl" rotWithShape="0" blurRad="12700" dist="50800" dir="5400000">
              <a:srgbClr val="A39685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38928" y="21122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138928" y="25054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Calendario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38928" y="27432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 reportado en el primer corte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620256" y="1975104"/>
            <a:ext cx="1499616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1C5"/>
            </a:solidFill>
            <a:prstDash val="solid"/>
          </a:ln>
          <a:effectLst>
            <a:outerShdw sx="100000" sy="100000" kx="0" ky="0" algn="bl" rotWithShape="0" blurRad="12700" dist="50800" dir="5400000">
              <a:srgbClr val="A39685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84848" y="211226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0.74-0.85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784848" y="2505456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Recuperacion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84848" y="274320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Similitud coseno validada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974336" y="3255264"/>
            <a:ext cx="3145536" cy="950976"/>
          </a:xfrm>
          <a:prstGeom prst="roundRect">
            <a:avLst>
              <a:gd name="adj" fmla="val 11538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38928" y="3419856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Hallazgo principal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8928" y="3730752"/>
            <a:ext cx="2816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 ya conecta corpus curado, experiencia conversacional y control pedagogico en una misma linea de trabajo.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74336" y="4407408"/>
            <a:ext cx="3145536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4572000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para el jurado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38928" y="4882896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presenta solo un chatbot: se presenta una arquitectura de apoyo academico con evidencia reutilizable.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21792" y="74980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 Crow demuestra que tutoria, conocimiento y evidencia pueden diseniarse como un solo sistema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defensa debe cerrar respondiendo de forma directa al problema inicial y abriendo una ruta clara de evolucion.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914400" cy="0"/>
          </a:xfrm>
          <a:prstGeom prst="line">
            <a:avLst/>
          </a:prstGeom>
          <a:noFill/>
          <a:ln w="12700">
            <a:solidFill>
              <a:srgbClr val="FFC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75104"/>
            <a:ext cx="431596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contribucion central de la tesis es una plataforma que conserva la disciplina pedagogica del tutor socratico mientras estructura el conocimiento y la trazabilidad necesarios para estudiar, mejorar y escalar la experiencia.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230368" y="1993392"/>
            <a:ext cx="28346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15798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Aporte 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246888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Tutoria socratica asistida por LLM con control de comportamiento.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30368" y="2999232"/>
            <a:ext cx="2834640" cy="841248"/>
          </a:xfrm>
          <a:prstGeom prst="roundRect">
            <a:avLst>
              <a:gd name="adj" fmla="val 13043"/>
            </a:avLst>
          </a:prstGeom>
          <a:solidFill>
            <a:srgbClr val="F7F4EE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316382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Aporte 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347472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Corpus pedagogico recuperable desde fuentes reales y sinteticas.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30368" y="4005072"/>
            <a:ext cx="28346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4169664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Aporte 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448056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para analitica y seguimiento de sesiones con evidencia estructurada.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" y="4736592"/>
            <a:ext cx="1371600" cy="237744"/>
          </a:xfrm>
          <a:prstGeom prst="roundRect">
            <a:avLst/>
          </a:prstGeom>
          <a:solidFill>
            <a:srgbClr val="DCE7F7"/>
          </a:solidFill>
          <a:ln w="12700">
            <a:solidFill>
              <a:srgbClr val="DCE7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82312"/>
            <a:ext cx="12252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Evaluacion con mas usuarios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31136" y="4736592"/>
            <a:ext cx="1188720" cy="237744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4288" y="4782312"/>
            <a:ext cx="1042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 docentes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47872" y="4736592"/>
            <a:ext cx="1444752" cy="237744"/>
          </a:xfrm>
          <a:prstGeom prst="roundRect">
            <a:avLst/>
          </a:prstGeom>
          <a:solidFill>
            <a:srgbClr val="DCE7F7"/>
          </a:solidFill>
          <a:ln w="12700">
            <a:solidFill>
              <a:srgbClr val="DCE7F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21024" y="4782312"/>
            <a:ext cx="12984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9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Integracion institucional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38928" y="4736592"/>
            <a:ext cx="1243584" cy="237744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4782312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Analitica predictiva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13232"/>
            <a:ext cx="822960" cy="237744"/>
          </a:xfrm>
          <a:prstGeom prst="roundRect">
            <a:avLst/>
          </a:prstGeom>
          <a:solidFill>
            <a:srgbClr val="FFC000"/>
          </a:solidFill>
          <a:ln w="12700">
            <a:solidFill>
              <a:srgbClr val="FFC00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758952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Gracias.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8105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58368" y="24323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9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defensa puede volver a cualquier bloque: problema, corpus, guardrails, interfaz o resultados.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42432" y="1828800"/>
            <a:ext cx="1792224" cy="1792224"/>
          </a:xfrm>
          <a:prstGeom prst="ellipse">
            <a:avLst/>
          </a:prstGeom>
          <a:solidFill>
            <a:srgbClr val="FCFBF8">
              <a:alpha val="0"/>
            </a:srgbClr>
          </a:solidFill>
          <a:ln w="12700">
            <a:solidFill>
              <a:srgbClr val="E7E2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44768" y="2231136"/>
            <a:ext cx="987552" cy="987552"/>
          </a:xfrm>
          <a:prstGeom prst="ellipse">
            <a:avLst/>
          </a:prstGeom>
          <a:solidFill>
            <a:srgbClr val="DCE7F7">
              <a:alpha val="84000"/>
            </a:srgbClr>
          </a:solidFill>
          <a:ln w="12700">
            <a:solidFill>
              <a:srgbClr val="1F497D">
                <a:alpha val="6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82512" y="2578608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49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1645920"/>
            <a:ext cx="768096" cy="237744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9552" y="1691640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0" y="2542032"/>
            <a:ext cx="768096" cy="237744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258775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31536" y="3822192"/>
            <a:ext cx="768096" cy="237744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04688" y="3867912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05472" y="4078224"/>
            <a:ext cx="768096" cy="237744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F7F4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78624" y="4123944"/>
            <a:ext cx="6217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1E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94192" y="63276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Pontificia Universidad Catolica Madre y Maestra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 Crow: Tutor Socratico Inteligente</dc:title>
  <dc:subject>Defensa de tesis de ciencias de la computacion</dc:subject>
  <dc:creator>OpenAI Codex</dc:creator>
  <cp:lastModifiedBy>OpenAI Codex</cp:lastModifiedBy>
  <cp:revision>1</cp:revision>
  <dcterms:created xsi:type="dcterms:W3CDTF">2026-03-30T03:18:25Z</dcterms:created>
  <dcterms:modified xsi:type="dcterms:W3CDTF">2026-03-30T03:18:25Z</dcterms:modified>
</cp:coreProperties>
</file>